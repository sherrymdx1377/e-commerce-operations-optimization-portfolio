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83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228600"/>
            <a:ext cx="310896" cy="1051560"/>
          </a:xfrm>
          <a:prstGeom prst="rect">
            <a:avLst/>
          </a:prstGeom>
          <a:solidFill>
            <a:srgbClr val="164E63">
              <a:alpha val="85000"/>
            </a:srgbClr>
          </a:solidFill>
          <a:ln w="12700">
            <a:solidFill>
              <a:srgbClr val="164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5532120"/>
            <a:ext cx="310896" cy="822960"/>
          </a:xfrm>
          <a:prstGeom prst="rect">
            <a:avLst/>
          </a:prstGeom>
          <a:solidFill>
            <a:srgbClr val="1E3A8A">
              <a:alpha val="75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621792"/>
            <a:ext cx="123444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6 FINAL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115568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Transformation and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Automation Plan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AE6FD"/>
                </a:solidFill>
              </a:rPr>
              <a:t>E-commerce order fulfillment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30175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From manual tracking to a controlled, automated, KPI-driven operating model.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3913632"/>
            <a:ext cx="5577840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27024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Practical transformation plan for operations coordination, workflow improvement, automation readiness, and performance control.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12280" y="3840480"/>
            <a:ext cx="1298448" cy="1325880"/>
          </a:xfrm>
          <a:prstGeom prst="roundRect">
            <a:avLst>
              <a:gd name="adj" fmla="val 5634"/>
            </a:avLst>
          </a:prstGeom>
          <a:solidFill>
            <a:srgbClr val="0F172A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12280" y="40416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7E8F9"/>
                </a:solidFill>
              </a:rPr>
              <a:t>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812280" y="4443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weeks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470001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CBD5E1"/>
                </a:solidFill>
              </a:rPr>
              <a:t>from assessment to monitoring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366760" y="3840480"/>
            <a:ext cx="1298448" cy="1325880"/>
          </a:xfrm>
          <a:prstGeom prst="roundRect">
            <a:avLst>
              <a:gd name="adj" fmla="val 5634"/>
            </a:avLst>
          </a:prstGeom>
          <a:solidFill>
            <a:srgbClr val="0F172A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40416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7E8F9"/>
                </a:solidFill>
              </a:rPr>
              <a:t>7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366760" y="4443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58200" y="470001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CBD5E1"/>
                </a:solidFill>
              </a:rPr>
              <a:t>manual processes targeted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9921240" y="3840480"/>
            <a:ext cx="1298448" cy="1325880"/>
          </a:xfrm>
          <a:prstGeom prst="roundRect">
            <a:avLst>
              <a:gd name="adj" fmla="val 5634"/>
            </a:avLst>
          </a:prstGeom>
          <a:solidFill>
            <a:srgbClr val="0F172A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21240" y="40416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7E8F9"/>
                </a:solidFill>
              </a:rPr>
              <a:t>5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921240" y="4443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KPIs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12680" y="470001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CBD5E1"/>
                </a:solidFill>
              </a:rPr>
              <a:t>core performance controls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Manual Process Problem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Manual handoffs slow visibility, duplicate effort, and delay exception detection.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627632"/>
            <a:ext cx="713232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0200" y="1618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Where work slows 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Inventory checks, courier follow-ups, customer updates, and weekly reporting rely on manual coordination and spreadsheet updates.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315968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627632"/>
            <a:ext cx="713232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76088" y="1618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What it affects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7136" y="202996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Order cycle time, delivery reliability, customer communication, inventory accuracy, and complaint handling.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991856" y="14173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6448" y="1627632"/>
            <a:ext cx="713232" cy="2926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51976" y="1618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Why automation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Teams need earlier alerts, consistent data fields, and a single source of truth for operational decisions.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94944" y="3337560"/>
            <a:ext cx="2423160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Manual processes selected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3813048"/>
            <a:ext cx="2514600" cy="438912"/>
          </a:xfrm>
          <a:prstGeom prst="rect">
            <a:avLst/>
          </a:prstGeom>
          <a:solidFill>
            <a:srgbClr val="EE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status updates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9584" y="3813048"/>
            <a:ext cx="2514600" cy="438912"/>
          </a:xfrm>
          <a:prstGeom prst="rect">
            <a:avLst/>
          </a:prstGeom>
          <a:solidFill>
            <a:srgbClr val="EE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checks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64224" y="3813048"/>
            <a:ext cx="2514600" cy="438912"/>
          </a:xfrm>
          <a:prstGeom prst="rect">
            <a:avLst/>
          </a:prstGeom>
          <a:solidFill>
            <a:srgbClr val="EE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&amp; pack validation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98864" y="3813048"/>
            <a:ext cx="2514600" cy="438912"/>
          </a:xfrm>
          <a:prstGeom prst="rect">
            <a:avLst/>
          </a:prstGeom>
          <a:solidFill>
            <a:srgbClr val="EEF6FF"/>
          </a:solidFill>
          <a:ln w="1270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Courier follow-ups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4944" y="4507992"/>
            <a:ext cx="2514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notifications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9584" y="4507992"/>
            <a:ext cx="2514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reporting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4507992"/>
            <a:ext cx="251460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49640" y="507492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96528" y="53218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Automation objective: remove repetitive updates while preserving human review for exceptions.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Current-State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Before automation, order visibility depends on manual updates at each handoff.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47672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66160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03136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21624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40112" y="1746504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Order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received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9224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Customer order enters system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221992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Inventory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check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267712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Manual stock lookup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40480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Pick &amp;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pack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3886200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Manual validation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458968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Courier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assigned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504688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Email/spreadsheet handoff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077456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Tracking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123176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Manual follow-up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695944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Customer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issue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741664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Complaint triggers review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314432" y="1536192"/>
            <a:ext cx="1325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Report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update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0360152" y="2295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Manual weekly report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920240" y="2944368"/>
            <a:ext cx="658368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81328" y="3072384"/>
            <a:ext cx="1188720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Manual lookup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38728" y="3072384"/>
            <a:ext cx="1188720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Manual handoff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96128" y="3072384"/>
            <a:ext cx="1188720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Manual follow-up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653528" y="3072384"/>
            <a:ext cx="1188720" cy="2468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Late review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4944" y="397764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2688" y="4215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</a:rPr>
              <a:t>Main bottleneck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456285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Exceptions are usually identified after a delay occurs, not while the order can still be recovered.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3977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29400" y="4215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Improvement focus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29400" y="45628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Build early warning signals, standard data fields, and a controlled exception workflow.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Opportunity 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Each manual issue is matched to a practical digital solution and operational value.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353312"/>
          <a:ext cx="7406640" cy="325526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issue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Automation solution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order tracking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management workflow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Single source of truth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inventory checks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Reorder alerts + stock dashboard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 stockout risk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Picking &amp; packing errors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Barcode scanning + dispatch checklist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Better order accuracy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Courier follow-ups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SLA dashboard + exception alerts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Earlier delay detection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customer updates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 email/SMS/WhatsApp templates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Consistent communication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reporting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 BI dashboard refresh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 KPI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1353312"/>
            <a:ext cx="2971800" cy="4251960"/>
          </a:xfrm>
          <a:prstGeom prst="roundRect">
            <a:avLst>
              <a:gd name="adj" fmla="val 24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759952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 simple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59952" y="215798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Pilot the highest-value automations before scaling integrations.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59952" y="2999232"/>
            <a:ext cx="214884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refresh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59952" y="3502152"/>
            <a:ext cx="214884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alerts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59952" y="4005072"/>
            <a:ext cx="21488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templates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759952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CBD5E1"/>
                </a:solidFill>
              </a:rPr>
              <a:t>Then scale into deeper workflow and system integrations once the data fields are stable.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Future-State Automated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Automation adds early checks, exception alerts, and live operational visibility.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47672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66160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4648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03136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21624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40112" y="1627632"/>
            <a:ext cx="256032" cy="21945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417320"/>
            <a:ext cx="13258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Order ID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created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49224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Automatic status record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221992" y="1417320"/>
            <a:ext cx="132588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System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stock check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2267712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Availability validated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40480" y="1417320"/>
            <a:ext cx="132588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Barcode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pick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3886200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SKU scan confirms item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458968" y="1417320"/>
            <a:ext cx="132588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Auto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courier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504688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Carrier assigned by rule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077456" y="1417320"/>
            <a:ext cx="13258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Live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tracking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123176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Status sync + alerts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695944" y="1417320"/>
            <a:ext cx="132588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Customer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updates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741664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Milestone messages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314432" y="1417320"/>
            <a:ext cx="1325880" cy="713232"/>
          </a:xfrm>
          <a:prstGeom prst="rect">
            <a:avLst/>
          </a:prstGeom>
          <a:solidFill>
            <a:srgbClr val="ECFEFF"/>
          </a:solidFill>
          <a:ln w="12700">
            <a:solidFill>
              <a:srgbClr val="67E8F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Daily KPI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102A43"/>
                </a:solidFill>
              </a:rPr>
              <a:t>dashboard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0360152" y="2194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Refresh + review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074920" y="3227832"/>
            <a:ext cx="1700784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3044952"/>
            <a:ext cx="265176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At-risk exception alert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" y="416966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976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Human effort shifts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" y="473659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From repetitive status updates to exception handling, quality checks, and continuous improvement.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309360" y="416966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47104" y="4407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Control point added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47104" y="473659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Exceptions are identified while the order can still be recovered, improving delivery reliability.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Technology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practical stack that can start simple and scale after the pilot.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1545336"/>
            <a:ext cx="347472" cy="23774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44168" y="1527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Order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8928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Order management system or structured tracker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86968" y="2167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Controls order status and handoffs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0288" y="1545336"/>
            <a:ext cx="347472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7488" y="1527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Inventory visibility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0288" y="18928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Inventory dashboard + reorder alerts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590288" y="2167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Flags low-stock and safety-stock risk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09244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93608" y="1545336"/>
            <a:ext cx="34747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50808" y="15270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Warehouse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8928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Barcode scanner + dispatch checklist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293608" y="2167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Reduces picking and packing errors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85800" y="299008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3209544"/>
            <a:ext cx="347472" cy="237744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44168" y="3191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Delivery monitoring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3557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Courier SLA dashboard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86968" y="3831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Tracks delay risk by order and carrier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389120" y="299008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0288" y="3209544"/>
            <a:ext cx="347472" cy="23774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47488" y="3191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Customer communication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0288" y="3557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CRM/ticketing tool with templates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590288" y="3831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Sends consistent customer updates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092440" y="2990088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93608" y="3209544"/>
            <a:ext cx="347472" cy="237744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750808" y="3191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Automation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557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34155"/>
                </a:solidFill>
              </a:rPr>
              <a:t>Power Automate, Zapier, Make, or RPA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293608" y="3831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</a:rPr>
              <a:t>Handles reminders and repeated admin tasks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85800" y="5166360"/>
            <a:ext cx="1065276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32688" y="5376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Tool selection rule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67712" y="53675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Choose the simplest system that provides reliable data fields, clear ownership, secure access, and measurable process improvement.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8-Week Implementation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phased rollout reduces disruption while testing automation in a controlled pilot.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102412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530352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Assess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processes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0392" y="2743200"/>
            <a:ext cx="22860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Scope approved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194560" y="1901952"/>
            <a:ext cx="530352" cy="31089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Select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tools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67712" y="2743200"/>
            <a:ext cx="228600" cy="228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7452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Requirements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11880" y="1901952"/>
            <a:ext cx="53035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Prepare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85032" y="2743200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SOP draft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029200" y="1901952"/>
            <a:ext cx="530352" cy="31089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Build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automations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02352" y="2743200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Prototype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446520" y="1901952"/>
            <a:ext cx="530352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048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Pilot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workflow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19672" y="274320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Pilot results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863840" y="1901952"/>
            <a:ext cx="530352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0780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Train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teams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36992" y="2743200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4380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Training guide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9281160" y="1901952"/>
            <a:ext cx="530352" cy="31089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2512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Rollout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354312" y="2743200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96112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Workflow live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0698480" y="1901952"/>
            <a:ext cx="530352" cy="31089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442448" y="230428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A43"/>
                </a:solidFill>
              </a:rPr>
              <a:t>Monitor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771632" y="2743200"/>
            <a:ext cx="228600" cy="2286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78440" y="31546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Final KPI review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713232" y="416052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400" y="4343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Prepare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59943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Assess process, select tools, prepare data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434840" y="416052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36008" y="4343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Build &amp; pilot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36008" y="459943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Prototype automation, pilot limited workflow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156448" y="416052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357616" y="4343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Deploy &amp; monitor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57616" y="4599432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Train, rollout, review KPIs and issues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13232" y="5285232"/>
            <a:ext cx="1051560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32688" y="5440680"/>
            <a:ext cx="9921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Governance: weekly progress reviews, issue-log updates during the pilot, and KPI review after rollout.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 and Responsibilities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Clear ownership across operations, warehouse, customer service, and IT/data support.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25880"/>
          <a:ext cx="7507224" cy="2798064"/>
        </p:xfrm>
        <a:graphic>
          <a:graphicData uri="http://schemas.openxmlformats.org/drawingml/2006/table">
            <a:tbl>
              <a:tblPr/>
              <a:tblGrid>
                <a:gridCol w="1975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Ops Manager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Ops Assistant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Lead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Analyst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 Lead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and approvals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Dashboard build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pilot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templates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KPI review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732520" y="132588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9015984" y="1627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RACI key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15984" y="2057400"/>
            <a:ext cx="347472" cy="23774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528048" y="2057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Responsible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9015984" y="2505456"/>
            <a:ext cx="347472" cy="23774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528048" y="25054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Accountable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9015984" y="2953512"/>
            <a:ext cx="347472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528048" y="29535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Consulted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9015984" y="3401568"/>
            <a:ext cx="347472" cy="237744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528048" y="3401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</a:rPr>
              <a:t>Informed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58368" y="4992624"/>
            <a:ext cx="10588752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2688" y="5212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Resource principle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95728" y="52120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Assign ownership before the pilot, not after issues arise. This reduces confusion and speeds up escalation.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Management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Automation risks are manageable when rollout is phased and data quality is controlled.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591056"/>
            <a:ext cx="822960" cy="25603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883664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Poor data quality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32688" y="20025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Clean mandatory fields before automation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4370832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0288" y="1591056"/>
            <a:ext cx="822960" cy="25603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541264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Integration issues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590288" y="20025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Pilot with limited process scope first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028432" y="13898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1591056"/>
            <a:ext cx="822960" cy="25603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198864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Data security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8247888" y="20025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Limit access and use approved platforms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13232" y="294436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3145536"/>
            <a:ext cx="8229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Medium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883664" y="31546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Staff resistance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32688" y="3557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Train with simple SOPs and show time saved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370832" y="294436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90288" y="3145536"/>
            <a:ext cx="8229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Medium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541264" y="31546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Cost overrun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590288" y="3557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Prioritize low-cost automation first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028432" y="294436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47888" y="3145536"/>
            <a:ext cx="8229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Medium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9198864" y="315468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2A43"/>
                </a:solidFill>
              </a:rPr>
              <a:t>Workflow disruption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247888" y="3557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334155"/>
                </a:solidFill>
              </a:rPr>
              <a:t>Keep manual backup during pilot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13232" y="5047488"/>
            <a:ext cx="1056132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0120" y="5285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Key control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52852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Keep automation decisions traceable, protect customer data, and keep humans in the loop for exceptions.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67160" y="256032"/>
            <a:ext cx="292608" cy="1051560"/>
          </a:xfrm>
          <a:prstGeom prst="rect">
            <a:avLst/>
          </a:prstGeom>
          <a:solidFill>
            <a:srgbClr val="DBEAFE">
              <a:alpha val="85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5577840"/>
            <a:ext cx="292608" cy="777240"/>
          </a:xfrm>
          <a:prstGeom prst="rect">
            <a:avLst/>
          </a:prstGeom>
          <a:solidFill>
            <a:srgbClr val="CCFBF1">
              <a:alpha val="75000"/>
            </a:srgbClr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Benefits and KPIs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680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Success should be measured through a focused set of operational KPIs.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600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Current vs. target operating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103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Manual updates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578608" y="2130552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78608" y="2130552"/>
            <a:ext cx="32918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78608" y="2313432"/>
            <a:ext cx="329184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78608" y="2313432"/>
            <a:ext cx="1152144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07608" y="2057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007608" y="22585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F766E"/>
                </a:solidFill>
              </a:rPr>
              <a:t>35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24128" y="26334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Order visibility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578608" y="2660904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78608" y="2660904"/>
            <a:ext cx="1481328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78608" y="2843784"/>
            <a:ext cx="329184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78608" y="2843784"/>
            <a:ext cx="2798064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07608" y="25877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45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07608" y="27889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F766E"/>
                </a:solidFill>
              </a:rPr>
              <a:t>85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24128" y="316382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Delay detection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578608" y="3191256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78608" y="3191256"/>
            <a:ext cx="1152144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78608" y="3374136"/>
            <a:ext cx="329184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78608" y="3374136"/>
            <a:ext cx="263347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07608" y="31181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35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07608" y="3319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F766E"/>
                </a:solidFill>
              </a:rPr>
              <a:t>80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24128" y="36941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Report cycle time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578608" y="3721608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78608" y="3721608"/>
            <a:ext cx="329184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78608" y="3904488"/>
            <a:ext cx="329184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78608" y="3904488"/>
            <a:ext cx="822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07608" y="3648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100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07608" y="384962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F766E"/>
                </a:solidFill>
              </a:rPr>
              <a:t>25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24128" y="42245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</a:rPr>
              <a:t>Inventory accuracy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578608" y="4251960"/>
            <a:ext cx="329184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78608" y="4251960"/>
            <a:ext cx="2699309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78608" y="4434840"/>
            <a:ext cx="3291840" cy="1097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78608" y="4434840"/>
            <a:ext cx="309433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07608" y="41788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</a:rPr>
              <a:t>82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07608" y="437997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0F766E"/>
                </a:solidFill>
              </a:rPr>
              <a:t>94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989320" y="1600200"/>
            <a:ext cx="658368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Current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6711696" y="1600200"/>
            <a:ext cx="566928" cy="2011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Target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7936992" y="1298448"/>
            <a:ext cx="33101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93024" y="1517904"/>
            <a:ext cx="310896" cy="21945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613648" y="1490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Target state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613648" y="17556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Fewer repetitive tasks and stronger exception management.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7936992" y="2414016"/>
            <a:ext cx="33101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193024" y="2633472"/>
            <a:ext cx="310896" cy="21945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613648" y="2606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Visibility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613648" y="287121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Daily KPI refresh supports faster action.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7936992" y="3529584"/>
            <a:ext cx="331012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193024" y="3749040"/>
            <a:ext cx="310896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613648" y="37216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A43"/>
                </a:solidFill>
              </a:rPr>
              <a:t>Quality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613648" y="3986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34155"/>
                </a:solidFill>
              </a:rPr>
              <a:t>Barcode checks reduce order accuracy risk.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7936992" y="4681728"/>
            <a:ext cx="3310128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11312" y="4828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KPI review rhythm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11312" y="5102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334155"/>
                </a:solidFill>
              </a:rPr>
              <a:t>Review dashboard weekly and escalate exceptions daily during rollout.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12700">
            <a:solidFill>
              <a:srgbClr val="D8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0352" y="65013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Week 6 | Digital Transformation and Operational Automation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12014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503152" y="228600"/>
            <a:ext cx="310896" cy="1051560"/>
          </a:xfrm>
          <a:prstGeom prst="rect">
            <a:avLst/>
          </a:prstGeom>
          <a:solidFill>
            <a:srgbClr val="164E63">
              <a:alpha val="85000"/>
            </a:srgbClr>
          </a:solidFill>
          <a:ln w="12700">
            <a:solidFill>
              <a:srgbClr val="164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5532120"/>
            <a:ext cx="310896" cy="822960"/>
          </a:xfrm>
          <a:prstGeom prst="rect">
            <a:avLst/>
          </a:prstGeom>
          <a:solidFill>
            <a:srgbClr val="1E3A8A">
              <a:alpha val="75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566928"/>
            <a:ext cx="132588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FINAL RECOMMENDATION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102412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simple, prove value through a pilot, then scale the automation model.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6656" y="1874520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Prioritize high-impact, low-cost automation first: dashboard refresh, delivery alerts, customer templates, and barcode validation before full system integration.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309067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384048" cy="347472"/>
          </a:xfrm>
          <a:prstGeom prst="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032" y="332841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Document ownership rules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877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Every status change and escalation point has a named owner.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02152" y="309067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85032" y="3337560"/>
            <a:ext cx="384048" cy="347472"/>
          </a:xfrm>
          <a:prstGeom prst="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87952" y="332841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Pilot limited workflow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03320" y="3877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Use one product category or order segment to reduce rollout risk.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91072" y="309067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3337560"/>
            <a:ext cx="384048" cy="347472"/>
          </a:xfrm>
          <a:prstGeom prst="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76872" y="332841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Track five KPIs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877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Delay rate, order accuracy, inventory accuracy, complaint rate, and report cycle time.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079992" y="309067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62872" y="3337560"/>
            <a:ext cx="384048" cy="347472"/>
          </a:xfrm>
          <a:prstGeom prst="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65792" y="3328416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Review weekly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81160" y="3877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</a:rPr>
              <a:t>Use governance meetings to resolve issues and scale what works.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3232" y="5138928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3766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Outcome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536752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Faster order processing, fewer manual errors, better delivery visibility, and stronger operational control.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1202</Words>
  <Application>Microsoft Office PowerPoint</Application>
  <PresentationFormat>Widescreen</PresentationFormat>
  <Paragraphs>339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and Operational Automation Plan</dc:title>
  <dc:subject>Digital Transformation and Operational Automation Plan</dc:subject>
  <dc:creator>OpenAI</dc:creator>
  <cp:lastModifiedBy>Sherry Haghbin</cp:lastModifiedBy>
  <cp:revision>2</cp:revision>
  <dcterms:created xsi:type="dcterms:W3CDTF">2026-06-11T09:44:37Z</dcterms:created>
  <dcterms:modified xsi:type="dcterms:W3CDTF">2026-06-11T10:07:45Z</dcterms:modified>
</cp:coreProperties>
</file>